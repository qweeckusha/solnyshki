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refactoring.guru/ru/encapsulate-field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efactoring.guru/ru/extract-method" TargetMode="External"/><Relationship Id="rId2" Type="http://schemas.openxmlformats.org/officeDocument/2006/relationships/hyperlink" Target="https://refactoring.guru/ru/move-method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efactoring.guru/ru/hide-method" TargetMode="External"/><Relationship Id="rId2" Type="http://schemas.openxmlformats.org/officeDocument/2006/relationships/hyperlink" Target="https://refactoring.guru/ru/remove-setting-method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refactoring.guru/ru/inline-clas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refactoring.guru/ru/collapse-hierarchy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5400" dirty="0" err="1"/>
              <a:t>Замусориватели</a:t>
            </a:r>
            <a:r>
              <a:rPr lang="ru-RU" sz="5400" dirty="0"/>
              <a:t>: класс данных, ленивый класс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Котов </a:t>
            </a:r>
            <a:r>
              <a:rPr lang="ru-RU" dirty="0" err="1" smtClean="0"/>
              <a:t>А.Ю</a:t>
            </a:r>
            <a:r>
              <a:rPr lang="ru-RU" dirty="0" smtClean="0"/>
              <a:t>.</a:t>
            </a:r>
          </a:p>
          <a:p>
            <a:r>
              <a:rPr lang="ru-RU" dirty="0" smtClean="0"/>
              <a:t>БИН-23-1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7239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Класс данных</a:t>
            </a:r>
            <a:br>
              <a:rPr lang="ru-RU" b="1" dirty="0"/>
            </a:br>
            <a:r>
              <a:rPr lang="ru-RU" b="1" dirty="0"/>
              <a:t>Также известен как: 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 smtClean="0"/>
              <a:t>Class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15729"/>
          </a:xfrm>
        </p:spPr>
        <p:txBody>
          <a:bodyPr>
            <a:normAutofit/>
          </a:bodyPr>
          <a:lstStyle/>
          <a:p>
            <a:r>
              <a:rPr lang="ru-RU" sz="2400" b="1" dirty="0"/>
              <a:t>Симптомы и признаки</a:t>
            </a:r>
          </a:p>
          <a:p>
            <a:r>
              <a:rPr lang="ru-RU" sz="2400" dirty="0"/>
              <a:t>Классы данных — это классы, которые содержат только поля и простейшие методы для доступа к ним (геттеры и сеттеры). Это просто контейнеры для данных, используемые другими классами. Эти классы не содержат никакой дополнительной функциональности и не могут самостоятельно работать с данными, которыми владеют</a:t>
            </a:r>
            <a:r>
              <a:rPr lang="ru-RU" sz="2400" dirty="0" smtClean="0"/>
              <a:t>.</a:t>
            </a:r>
          </a:p>
          <a:p>
            <a:r>
              <a:rPr lang="ru-RU" sz="2400" b="1" dirty="0"/>
              <a:t>Причины появления</a:t>
            </a:r>
          </a:p>
          <a:p>
            <a:r>
              <a:rPr lang="ru-RU" sz="2400" dirty="0"/>
              <a:t>Это нормально, когда класс в начале своей жизни содержит всего лишь несколько публичных полей (а может даже и парочку геттеров/сеттеров). Тем не менее, настоящая сила объектов заключается в том, что они могут хранить типы поведения или операции над собственными данными.</a:t>
            </a:r>
          </a:p>
          <a:p>
            <a:endParaRPr lang="ru-RU" sz="2400" dirty="0"/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563918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Класс данных</a:t>
            </a:r>
            <a:br>
              <a:rPr lang="ru-RU" b="1" dirty="0"/>
            </a:br>
            <a:r>
              <a:rPr lang="ru-RU" b="1" dirty="0"/>
              <a:t>Также известен как: 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 smtClean="0"/>
              <a:t>Class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36320" y="1871859"/>
            <a:ext cx="10058400" cy="1150015"/>
          </a:xfrm>
        </p:spPr>
        <p:txBody>
          <a:bodyPr>
            <a:noAutofit/>
          </a:bodyPr>
          <a:lstStyle/>
          <a:p>
            <a:r>
              <a:rPr lang="ru-RU" b="1" dirty="0"/>
              <a:t>Лечение</a:t>
            </a:r>
          </a:p>
          <a:p>
            <a:r>
              <a:rPr lang="ru-RU" dirty="0"/>
              <a:t>Если класс содержит публичные поля, примените </a:t>
            </a:r>
            <a:r>
              <a:rPr lang="ru-RU" b="1" dirty="0">
                <a:hlinkClick r:id="rId2"/>
              </a:rPr>
              <a:t>инкапсуляцию поля</a:t>
            </a:r>
            <a:r>
              <a:rPr lang="ru-RU" dirty="0"/>
              <a:t> чтобы скрыть их из прямого доступа, разрешив доступ только через геттеры и сеттеры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036320" y="2971707"/>
            <a:ext cx="5706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1D1D1F"/>
                </a:solidFill>
                <a:latin typeface="system-ui"/>
              </a:rPr>
              <a:t>До: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036320" y="3341039"/>
            <a:ext cx="472875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err="1"/>
              <a:t>public</a:t>
            </a:r>
            <a:r>
              <a:rPr lang="ru-RU" sz="1400" dirty="0"/>
              <a:t> </a:t>
            </a:r>
            <a:r>
              <a:rPr lang="ru-RU" sz="1400" dirty="0" err="1"/>
              <a:t>class</a:t>
            </a:r>
            <a:r>
              <a:rPr lang="ru-RU" sz="1400" dirty="0"/>
              <a:t> </a:t>
            </a:r>
            <a:r>
              <a:rPr lang="ru-RU" sz="1400" dirty="0" err="1"/>
              <a:t>Employee</a:t>
            </a:r>
            <a:r>
              <a:rPr lang="ru-RU" sz="1400" dirty="0"/>
              <a:t> {</a:t>
            </a:r>
          </a:p>
          <a:p>
            <a:r>
              <a:rPr lang="ru-RU" sz="1400" dirty="0"/>
              <a:t>    </a:t>
            </a:r>
            <a:r>
              <a:rPr lang="ru-RU" sz="1400" dirty="0" err="1"/>
              <a:t>public</a:t>
            </a:r>
            <a:r>
              <a:rPr lang="ru-RU" sz="1400" dirty="0"/>
              <a:t> </a:t>
            </a:r>
            <a:r>
              <a:rPr lang="ru-RU" sz="1400" dirty="0" err="1"/>
              <a:t>String</a:t>
            </a:r>
            <a:r>
              <a:rPr lang="ru-RU" sz="1400" dirty="0"/>
              <a:t> </a:t>
            </a:r>
            <a:r>
              <a:rPr lang="ru-RU" sz="1400" dirty="0" err="1"/>
              <a:t>name</a:t>
            </a:r>
            <a:r>
              <a:rPr lang="ru-RU" sz="1400" dirty="0"/>
              <a:t>;</a:t>
            </a:r>
          </a:p>
          <a:p>
            <a:r>
              <a:rPr lang="ru-RU" sz="1400" dirty="0"/>
              <a:t>    </a:t>
            </a:r>
            <a:r>
              <a:rPr lang="ru-RU" sz="1400" dirty="0" err="1"/>
              <a:t>public</a:t>
            </a:r>
            <a:r>
              <a:rPr lang="ru-RU" sz="1400" dirty="0"/>
              <a:t> </a:t>
            </a:r>
            <a:r>
              <a:rPr lang="ru-RU" sz="1400" dirty="0" err="1"/>
              <a:t>int</a:t>
            </a:r>
            <a:r>
              <a:rPr lang="ru-RU" sz="1400" dirty="0"/>
              <a:t> </a:t>
            </a:r>
            <a:r>
              <a:rPr lang="ru-RU" sz="1400" dirty="0" err="1"/>
              <a:t>yearsOfExperience</a:t>
            </a:r>
            <a:r>
              <a:rPr lang="ru-RU" sz="1400" dirty="0"/>
              <a:t>;</a:t>
            </a:r>
          </a:p>
          <a:p>
            <a:r>
              <a:rPr lang="ru-RU" sz="1400" dirty="0"/>
              <a:t>}</a:t>
            </a:r>
          </a:p>
          <a:p>
            <a:endParaRPr lang="ru-RU" sz="1400" dirty="0"/>
          </a:p>
          <a:p>
            <a:r>
              <a:rPr lang="ru-RU" sz="1400" dirty="0"/>
              <a:t>// Клиентский код:</a:t>
            </a:r>
          </a:p>
          <a:p>
            <a:r>
              <a:rPr lang="ru-RU" sz="1400" dirty="0" err="1"/>
              <a:t>Employee</a:t>
            </a:r>
            <a:r>
              <a:rPr lang="ru-RU" sz="1400" dirty="0"/>
              <a:t> </a:t>
            </a:r>
            <a:r>
              <a:rPr lang="ru-RU" sz="1400" dirty="0" err="1"/>
              <a:t>emp</a:t>
            </a:r>
            <a:r>
              <a:rPr lang="ru-RU" sz="1400" dirty="0"/>
              <a:t> = </a:t>
            </a:r>
            <a:r>
              <a:rPr lang="ru-RU" sz="1400" dirty="0" err="1"/>
              <a:t>new</a:t>
            </a:r>
            <a:r>
              <a:rPr lang="ru-RU" sz="1400" dirty="0"/>
              <a:t> </a:t>
            </a:r>
            <a:r>
              <a:rPr lang="ru-RU" sz="1400" dirty="0" err="1"/>
              <a:t>Employee</a:t>
            </a:r>
            <a:r>
              <a:rPr lang="ru-RU" sz="1400" dirty="0"/>
              <a:t>();</a:t>
            </a:r>
          </a:p>
          <a:p>
            <a:r>
              <a:rPr lang="ru-RU" sz="1400" dirty="0"/>
              <a:t>emp.name = "Алексей";</a:t>
            </a:r>
          </a:p>
          <a:p>
            <a:r>
              <a:rPr lang="ru-RU" sz="1400" dirty="0" err="1"/>
              <a:t>emp.yearsOfExperience</a:t>
            </a:r>
            <a:r>
              <a:rPr lang="ru-RU" sz="1400" dirty="0"/>
              <a:t> = -5; // Ошибка логики допустима!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643623" y="2971707"/>
            <a:ext cx="9657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1D1D1F"/>
                </a:solidFill>
                <a:latin typeface="system-ui"/>
              </a:rPr>
              <a:t>После: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586079" y="3248902"/>
            <a:ext cx="70936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err="1"/>
              <a:t>public</a:t>
            </a:r>
            <a:r>
              <a:rPr lang="ru-RU" sz="1400" dirty="0"/>
              <a:t> </a:t>
            </a:r>
            <a:r>
              <a:rPr lang="ru-RU" sz="1400" dirty="0" err="1"/>
              <a:t>class</a:t>
            </a:r>
            <a:r>
              <a:rPr lang="ru-RU" sz="1400" dirty="0"/>
              <a:t> </a:t>
            </a:r>
            <a:r>
              <a:rPr lang="ru-RU" sz="1400" dirty="0" err="1"/>
              <a:t>Employee</a:t>
            </a:r>
            <a:r>
              <a:rPr lang="ru-RU" sz="1400" dirty="0"/>
              <a:t> {</a:t>
            </a:r>
          </a:p>
          <a:p>
            <a:r>
              <a:rPr lang="ru-RU" sz="1400" dirty="0"/>
              <a:t>    </a:t>
            </a:r>
            <a:r>
              <a:rPr lang="ru-RU" sz="1400" dirty="0" err="1"/>
              <a:t>private</a:t>
            </a:r>
            <a:r>
              <a:rPr lang="ru-RU" sz="1400" dirty="0"/>
              <a:t> </a:t>
            </a:r>
            <a:r>
              <a:rPr lang="ru-RU" sz="1400" dirty="0" err="1"/>
              <a:t>String</a:t>
            </a:r>
            <a:r>
              <a:rPr lang="ru-RU" sz="1400" dirty="0"/>
              <a:t> </a:t>
            </a:r>
            <a:r>
              <a:rPr lang="ru-RU" sz="1400" dirty="0" err="1"/>
              <a:t>name</a:t>
            </a:r>
            <a:r>
              <a:rPr lang="ru-RU" sz="1400" dirty="0"/>
              <a:t>;</a:t>
            </a:r>
          </a:p>
          <a:p>
            <a:r>
              <a:rPr lang="ru-RU" sz="1400" dirty="0"/>
              <a:t>    </a:t>
            </a:r>
            <a:r>
              <a:rPr lang="ru-RU" sz="1400" dirty="0" err="1"/>
              <a:t>private</a:t>
            </a:r>
            <a:r>
              <a:rPr lang="ru-RU" sz="1400" dirty="0"/>
              <a:t> </a:t>
            </a:r>
            <a:r>
              <a:rPr lang="ru-RU" sz="1400" dirty="0" err="1"/>
              <a:t>int</a:t>
            </a:r>
            <a:r>
              <a:rPr lang="ru-RU" sz="1400" dirty="0"/>
              <a:t> </a:t>
            </a:r>
            <a:r>
              <a:rPr lang="ru-RU" sz="1400" dirty="0" err="1"/>
              <a:t>yearsOfExperience</a:t>
            </a:r>
            <a:r>
              <a:rPr lang="ru-RU" sz="1400" dirty="0"/>
              <a:t>;</a:t>
            </a:r>
          </a:p>
          <a:p>
            <a:endParaRPr lang="ru-RU" sz="1400" dirty="0"/>
          </a:p>
          <a:p>
            <a:r>
              <a:rPr lang="ru-RU" sz="1400" dirty="0"/>
              <a:t>    </a:t>
            </a:r>
            <a:r>
              <a:rPr lang="ru-RU" sz="1400" dirty="0" err="1"/>
              <a:t>public</a:t>
            </a:r>
            <a:r>
              <a:rPr lang="ru-RU" sz="1400" dirty="0"/>
              <a:t> </a:t>
            </a:r>
            <a:r>
              <a:rPr lang="ru-RU" sz="1400" dirty="0" err="1"/>
              <a:t>String</a:t>
            </a:r>
            <a:r>
              <a:rPr lang="ru-RU" sz="1400" dirty="0"/>
              <a:t> </a:t>
            </a:r>
            <a:r>
              <a:rPr lang="ru-RU" sz="1400" dirty="0" err="1"/>
              <a:t>getName</a:t>
            </a:r>
            <a:r>
              <a:rPr lang="ru-RU" sz="1400" dirty="0"/>
              <a:t>() { </a:t>
            </a:r>
            <a:r>
              <a:rPr lang="ru-RU" sz="1400" dirty="0" err="1"/>
              <a:t>return</a:t>
            </a:r>
            <a:r>
              <a:rPr lang="ru-RU" sz="1400" dirty="0"/>
              <a:t> </a:t>
            </a:r>
            <a:r>
              <a:rPr lang="ru-RU" sz="1400" dirty="0" err="1"/>
              <a:t>name</a:t>
            </a:r>
            <a:r>
              <a:rPr lang="ru-RU" sz="1400" dirty="0"/>
              <a:t>; }</a:t>
            </a:r>
          </a:p>
          <a:p>
            <a:r>
              <a:rPr lang="ru-RU" sz="1400" dirty="0"/>
              <a:t>    </a:t>
            </a:r>
            <a:r>
              <a:rPr lang="ru-RU" sz="1400" dirty="0" err="1"/>
              <a:t>public</a:t>
            </a:r>
            <a:r>
              <a:rPr lang="ru-RU" sz="1400" dirty="0"/>
              <a:t> </a:t>
            </a:r>
            <a:r>
              <a:rPr lang="ru-RU" sz="1400" dirty="0" err="1"/>
              <a:t>void</a:t>
            </a:r>
            <a:r>
              <a:rPr lang="ru-RU" sz="1400" dirty="0"/>
              <a:t> </a:t>
            </a:r>
            <a:r>
              <a:rPr lang="ru-RU" sz="1400" dirty="0" err="1"/>
              <a:t>setName</a:t>
            </a:r>
            <a:r>
              <a:rPr lang="ru-RU" sz="1400" dirty="0"/>
              <a:t>(</a:t>
            </a:r>
            <a:r>
              <a:rPr lang="ru-RU" sz="1400" dirty="0" err="1"/>
              <a:t>String</a:t>
            </a:r>
            <a:r>
              <a:rPr lang="ru-RU" sz="1400" dirty="0"/>
              <a:t> </a:t>
            </a:r>
            <a:r>
              <a:rPr lang="ru-RU" sz="1400" dirty="0" err="1"/>
              <a:t>name</a:t>
            </a:r>
            <a:r>
              <a:rPr lang="ru-RU" sz="1400" dirty="0"/>
              <a:t>) { </a:t>
            </a:r>
          </a:p>
          <a:p>
            <a:r>
              <a:rPr lang="ru-RU" sz="1400" dirty="0"/>
              <a:t>        </a:t>
            </a:r>
            <a:r>
              <a:rPr lang="ru-RU" sz="1400" dirty="0" err="1"/>
              <a:t>if</a:t>
            </a:r>
            <a:r>
              <a:rPr lang="ru-RU" sz="1400" dirty="0"/>
              <a:t> (</a:t>
            </a:r>
            <a:r>
              <a:rPr lang="ru-RU" sz="1400" dirty="0" err="1"/>
              <a:t>name</a:t>
            </a:r>
            <a:r>
              <a:rPr lang="ru-RU" sz="1400" dirty="0"/>
              <a:t> == </a:t>
            </a:r>
            <a:r>
              <a:rPr lang="ru-RU" sz="1400" dirty="0" err="1"/>
              <a:t>null</a:t>
            </a:r>
            <a:r>
              <a:rPr lang="ru-RU" sz="1400" dirty="0"/>
              <a:t> || </a:t>
            </a:r>
            <a:r>
              <a:rPr lang="ru-RU" sz="1400" dirty="0" err="1"/>
              <a:t>name.isBlank</a:t>
            </a:r>
            <a:r>
              <a:rPr lang="ru-RU" sz="1400" dirty="0"/>
              <a:t>()) </a:t>
            </a:r>
            <a:r>
              <a:rPr lang="ru-RU" sz="1400" dirty="0" err="1"/>
              <a:t>throw</a:t>
            </a:r>
            <a:r>
              <a:rPr lang="ru-RU" sz="1400" dirty="0"/>
              <a:t> </a:t>
            </a:r>
            <a:r>
              <a:rPr lang="ru-RU" sz="1400" dirty="0" err="1"/>
              <a:t>new</a:t>
            </a:r>
            <a:r>
              <a:rPr lang="ru-RU" sz="1400" dirty="0"/>
              <a:t> </a:t>
            </a:r>
            <a:r>
              <a:rPr lang="ru-RU" sz="1400" dirty="0" err="1"/>
              <a:t>IllegalArgumentException</a:t>
            </a:r>
            <a:r>
              <a:rPr lang="ru-RU" sz="1400" dirty="0"/>
              <a:t>();</a:t>
            </a:r>
          </a:p>
          <a:p>
            <a:r>
              <a:rPr lang="ru-RU" sz="1400" dirty="0"/>
              <a:t>        this.name = </a:t>
            </a:r>
            <a:r>
              <a:rPr lang="ru-RU" sz="1400" dirty="0" err="1"/>
              <a:t>name</a:t>
            </a:r>
            <a:r>
              <a:rPr lang="ru-RU" sz="1400" dirty="0"/>
              <a:t>; </a:t>
            </a:r>
          </a:p>
          <a:p>
            <a:r>
              <a:rPr lang="ru-RU" sz="1400" dirty="0"/>
              <a:t>    </a:t>
            </a:r>
            <a:r>
              <a:rPr lang="ru-RU" sz="1400" dirty="0" smtClean="0"/>
              <a:t>}</a:t>
            </a:r>
            <a:endParaRPr lang="ru-RU" sz="1400" dirty="0"/>
          </a:p>
          <a:p>
            <a:r>
              <a:rPr lang="ru-RU" sz="1400" dirty="0"/>
              <a:t>    </a:t>
            </a:r>
            <a:r>
              <a:rPr lang="ru-RU" sz="1400" dirty="0" err="1"/>
              <a:t>public</a:t>
            </a:r>
            <a:r>
              <a:rPr lang="ru-RU" sz="1400" dirty="0"/>
              <a:t> </a:t>
            </a:r>
            <a:r>
              <a:rPr lang="ru-RU" sz="1400" dirty="0" err="1"/>
              <a:t>int</a:t>
            </a:r>
            <a:r>
              <a:rPr lang="ru-RU" sz="1400" dirty="0"/>
              <a:t> </a:t>
            </a:r>
            <a:r>
              <a:rPr lang="ru-RU" sz="1400" dirty="0" err="1"/>
              <a:t>getYearsOfExperience</a:t>
            </a:r>
            <a:r>
              <a:rPr lang="ru-RU" sz="1400" dirty="0"/>
              <a:t>() { </a:t>
            </a:r>
            <a:r>
              <a:rPr lang="ru-RU" sz="1400" dirty="0" err="1"/>
              <a:t>return</a:t>
            </a:r>
            <a:r>
              <a:rPr lang="ru-RU" sz="1400" dirty="0"/>
              <a:t> </a:t>
            </a:r>
            <a:r>
              <a:rPr lang="ru-RU" sz="1400" dirty="0" err="1"/>
              <a:t>yearsOfExperience</a:t>
            </a:r>
            <a:r>
              <a:rPr lang="ru-RU" sz="1400" dirty="0"/>
              <a:t>; }</a:t>
            </a:r>
          </a:p>
          <a:p>
            <a:r>
              <a:rPr lang="ru-RU" sz="1400" dirty="0"/>
              <a:t>    </a:t>
            </a:r>
            <a:r>
              <a:rPr lang="ru-RU" sz="1400" dirty="0" err="1"/>
              <a:t>public</a:t>
            </a:r>
            <a:r>
              <a:rPr lang="ru-RU" sz="1400" dirty="0"/>
              <a:t> </a:t>
            </a:r>
            <a:r>
              <a:rPr lang="ru-RU" sz="1400" dirty="0" err="1"/>
              <a:t>void</a:t>
            </a:r>
            <a:r>
              <a:rPr lang="ru-RU" sz="1400" dirty="0"/>
              <a:t> </a:t>
            </a:r>
            <a:r>
              <a:rPr lang="ru-RU" sz="1400" dirty="0" err="1"/>
              <a:t>setYearsOfExperience</a:t>
            </a:r>
            <a:r>
              <a:rPr lang="ru-RU" sz="1400" dirty="0"/>
              <a:t>(</a:t>
            </a:r>
            <a:r>
              <a:rPr lang="ru-RU" sz="1400" dirty="0" err="1"/>
              <a:t>int</a:t>
            </a:r>
            <a:r>
              <a:rPr lang="ru-RU" sz="1400" dirty="0"/>
              <a:t> </a:t>
            </a:r>
            <a:r>
              <a:rPr lang="ru-RU" sz="1400" dirty="0" err="1"/>
              <a:t>years</a:t>
            </a:r>
            <a:r>
              <a:rPr lang="ru-RU" sz="1400" dirty="0"/>
              <a:t>) { </a:t>
            </a:r>
          </a:p>
          <a:p>
            <a:r>
              <a:rPr lang="ru-RU" sz="1400" dirty="0"/>
              <a:t>        </a:t>
            </a:r>
            <a:r>
              <a:rPr lang="ru-RU" sz="1400" dirty="0" err="1"/>
              <a:t>if</a:t>
            </a:r>
            <a:r>
              <a:rPr lang="ru-RU" sz="1400" dirty="0"/>
              <a:t> (</a:t>
            </a:r>
            <a:r>
              <a:rPr lang="ru-RU" sz="1400" dirty="0" err="1"/>
              <a:t>years</a:t>
            </a:r>
            <a:r>
              <a:rPr lang="ru-RU" sz="1400" dirty="0"/>
              <a:t> &lt; 0) </a:t>
            </a:r>
            <a:r>
              <a:rPr lang="ru-RU" sz="1400" dirty="0" err="1"/>
              <a:t>throw</a:t>
            </a:r>
            <a:r>
              <a:rPr lang="ru-RU" sz="1400" dirty="0"/>
              <a:t> </a:t>
            </a:r>
            <a:r>
              <a:rPr lang="ru-RU" sz="1400" dirty="0" err="1"/>
              <a:t>new</a:t>
            </a:r>
            <a:r>
              <a:rPr lang="ru-RU" sz="1400" dirty="0"/>
              <a:t> </a:t>
            </a:r>
            <a:r>
              <a:rPr lang="ru-RU" sz="1400" dirty="0" err="1"/>
              <a:t>IllegalArgumentException</a:t>
            </a:r>
            <a:r>
              <a:rPr lang="ru-RU" sz="1400" dirty="0"/>
              <a:t>("Опыт не может быть отрицательным");</a:t>
            </a:r>
          </a:p>
          <a:p>
            <a:r>
              <a:rPr lang="ru-RU" sz="1400" dirty="0"/>
              <a:t>        </a:t>
            </a:r>
            <a:r>
              <a:rPr lang="ru-RU" sz="1400" dirty="0" err="1"/>
              <a:t>this.yearsOfExperience</a:t>
            </a:r>
            <a:r>
              <a:rPr lang="ru-RU" sz="1400" dirty="0"/>
              <a:t> = </a:t>
            </a:r>
            <a:r>
              <a:rPr lang="ru-RU" sz="1400" dirty="0" err="1"/>
              <a:t>years</a:t>
            </a:r>
            <a:r>
              <a:rPr lang="ru-RU" sz="1400" dirty="0"/>
              <a:t>; </a:t>
            </a:r>
          </a:p>
          <a:p>
            <a:r>
              <a:rPr lang="ru-RU" sz="1400" dirty="0"/>
              <a:t>    }</a:t>
            </a:r>
          </a:p>
          <a:p>
            <a:r>
              <a:rPr lang="ru-RU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61972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Класс данных</a:t>
            </a:r>
            <a:br>
              <a:rPr lang="ru-RU" b="1" dirty="0"/>
            </a:br>
            <a:r>
              <a:rPr lang="ru-RU" b="1" dirty="0"/>
              <a:t>Также известен как: 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 smtClean="0"/>
              <a:t>Class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36320" y="1871859"/>
            <a:ext cx="10058400" cy="1150015"/>
          </a:xfrm>
        </p:spPr>
        <p:txBody>
          <a:bodyPr>
            <a:noAutofit/>
          </a:bodyPr>
          <a:lstStyle/>
          <a:p>
            <a:r>
              <a:rPr lang="ru-RU" b="1" dirty="0"/>
              <a:t>Лечение</a:t>
            </a:r>
          </a:p>
          <a:p>
            <a:r>
              <a:rPr lang="ru-RU" dirty="0"/>
              <a:t>Осмотрите клиентский код, который использует этот класс. Возможно, там вы найдёте функциональность, которая смотрелась бы уместнее в самом классе данных. В этом случае используйте </a:t>
            </a:r>
            <a:r>
              <a:rPr lang="ru-RU" b="1" dirty="0">
                <a:hlinkClick r:id="rId2"/>
              </a:rPr>
              <a:t>перемещение метода</a:t>
            </a:r>
            <a:r>
              <a:rPr lang="ru-RU" dirty="0"/>
              <a:t> и </a:t>
            </a:r>
            <a:r>
              <a:rPr lang="ru-RU" b="1" dirty="0">
                <a:hlinkClick r:id="rId3"/>
              </a:rPr>
              <a:t>извлечение метода</a:t>
            </a:r>
            <a:r>
              <a:rPr lang="ru-RU" dirty="0"/>
              <a:t> для переноса функциональности в класс данных.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52549" y="3568067"/>
            <a:ext cx="5706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1D1D1F"/>
                </a:solidFill>
                <a:latin typeface="system-ui"/>
              </a:rPr>
              <a:t>До: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036320" y="3568067"/>
            <a:ext cx="472875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public class </a:t>
            </a:r>
            <a:r>
              <a:rPr lang="en-US" sz="1400" dirty="0" err="1"/>
              <a:t>PayrollService</a:t>
            </a:r>
            <a:r>
              <a:rPr lang="en-US" sz="1400" dirty="0"/>
              <a:t> {</a:t>
            </a:r>
          </a:p>
          <a:p>
            <a:r>
              <a:rPr lang="en-US" sz="1400" dirty="0"/>
              <a:t>    public </a:t>
            </a:r>
            <a:r>
              <a:rPr lang="en-US" sz="1400" dirty="0" err="1"/>
              <a:t>boolean</a:t>
            </a:r>
            <a:r>
              <a:rPr lang="en-US" sz="1400" dirty="0"/>
              <a:t> </a:t>
            </a:r>
            <a:r>
              <a:rPr lang="en-US" sz="1400" dirty="0" err="1"/>
              <a:t>isEligibleForBonus</a:t>
            </a:r>
            <a:r>
              <a:rPr lang="en-US" sz="1400" dirty="0"/>
              <a:t>(Employee </a:t>
            </a:r>
            <a:r>
              <a:rPr lang="en-US" sz="1400" dirty="0" err="1"/>
              <a:t>emp</a:t>
            </a:r>
            <a:r>
              <a:rPr lang="en-US" sz="1400" dirty="0"/>
              <a:t>) {</a:t>
            </a:r>
          </a:p>
          <a:p>
            <a:r>
              <a:rPr lang="en-US" sz="1400" dirty="0"/>
              <a:t>        return </a:t>
            </a:r>
            <a:r>
              <a:rPr lang="en-US" sz="1400" dirty="0" err="1"/>
              <a:t>emp.getYearsOfExperience</a:t>
            </a:r>
            <a:r>
              <a:rPr lang="en-US" sz="1400" dirty="0"/>
              <a:t>() &gt;= 3 &amp;&amp; </a:t>
            </a:r>
          </a:p>
          <a:p>
            <a:r>
              <a:rPr lang="en-US" sz="1400" dirty="0"/>
              <a:t>               </a:t>
            </a:r>
            <a:r>
              <a:rPr lang="en-US" sz="1400" dirty="0" err="1"/>
              <a:t>emp.getSkills</a:t>
            </a:r>
            <a:r>
              <a:rPr lang="en-US" sz="1400" dirty="0"/>
              <a:t>().contains("Leadership");</a:t>
            </a:r>
          </a:p>
          <a:p>
            <a:r>
              <a:rPr lang="en-US" sz="1400" dirty="0"/>
              <a:t>    }</a:t>
            </a:r>
          </a:p>
          <a:p>
            <a:r>
              <a:rPr lang="en-US" sz="1400" dirty="0"/>
              <a:t>}</a:t>
            </a:r>
          </a:p>
          <a:p>
            <a:endParaRPr lang="en-US" sz="1400" dirty="0"/>
          </a:p>
          <a:p>
            <a:r>
              <a:rPr lang="en-US" sz="1400" dirty="0"/>
              <a:t>public class </a:t>
            </a:r>
            <a:r>
              <a:rPr lang="en-US" sz="1400" dirty="0" err="1"/>
              <a:t>PromotionService</a:t>
            </a:r>
            <a:r>
              <a:rPr lang="en-US" sz="1400" dirty="0"/>
              <a:t> {</a:t>
            </a:r>
          </a:p>
          <a:p>
            <a:r>
              <a:rPr lang="en-US" sz="1400" dirty="0"/>
              <a:t>    public </a:t>
            </a:r>
            <a:r>
              <a:rPr lang="en-US" sz="1400" dirty="0" err="1"/>
              <a:t>boolean</a:t>
            </a:r>
            <a:r>
              <a:rPr lang="en-US" sz="1400" dirty="0"/>
              <a:t> </a:t>
            </a:r>
            <a:r>
              <a:rPr lang="en-US" sz="1400" dirty="0" err="1"/>
              <a:t>canBePromoted</a:t>
            </a:r>
            <a:r>
              <a:rPr lang="en-US" sz="1400" dirty="0"/>
              <a:t>(Employee </a:t>
            </a:r>
            <a:r>
              <a:rPr lang="en-US" sz="1400" dirty="0" err="1"/>
              <a:t>emp</a:t>
            </a:r>
            <a:r>
              <a:rPr lang="en-US" sz="1400" dirty="0"/>
              <a:t>) {</a:t>
            </a:r>
          </a:p>
          <a:p>
            <a:r>
              <a:rPr lang="en-US" sz="1400" dirty="0"/>
              <a:t>        // </a:t>
            </a:r>
            <a:r>
              <a:rPr lang="ru-RU" sz="1400" dirty="0"/>
              <a:t>Та же проверка, но написана заново!</a:t>
            </a:r>
          </a:p>
          <a:p>
            <a:r>
              <a:rPr lang="ru-RU" sz="1400" dirty="0"/>
              <a:t>        </a:t>
            </a:r>
            <a:r>
              <a:rPr lang="en-US" sz="1400" dirty="0"/>
              <a:t>return </a:t>
            </a:r>
            <a:r>
              <a:rPr lang="en-US" sz="1400" dirty="0" err="1"/>
              <a:t>emp.getYearsOfExperience</a:t>
            </a:r>
            <a:r>
              <a:rPr lang="en-US" sz="1400" dirty="0"/>
              <a:t>() &gt;= 3 &amp;&amp; </a:t>
            </a:r>
          </a:p>
          <a:p>
            <a:r>
              <a:rPr lang="en-US" sz="1400" dirty="0"/>
              <a:t>               </a:t>
            </a:r>
            <a:r>
              <a:rPr lang="en-US" sz="1400" dirty="0" err="1"/>
              <a:t>emp.getSkills</a:t>
            </a:r>
            <a:r>
              <a:rPr lang="en-US" sz="1400" dirty="0"/>
              <a:t>().contains("Leadership");</a:t>
            </a:r>
          </a:p>
          <a:p>
            <a:r>
              <a:rPr lang="en-US" sz="1400" dirty="0"/>
              <a:t>    }</a:t>
            </a:r>
          </a:p>
          <a:p>
            <a:r>
              <a:rPr lang="en-US" sz="1400" dirty="0"/>
              <a:t>}</a:t>
            </a:r>
            <a:endParaRPr lang="ru-RU" sz="1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282217" y="3473730"/>
            <a:ext cx="9657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1D1D1F"/>
                </a:solidFill>
                <a:latin typeface="system-ui"/>
              </a:rPr>
              <a:t>После: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766859" y="3568067"/>
            <a:ext cx="3601463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public class Employee {</a:t>
            </a:r>
          </a:p>
          <a:p>
            <a:r>
              <a:rPr lang="en-US" sz="1400" dirty="0"/>
              <a:t>    // ... </a:t>
            </a:r>
            <a:r>
              <a:rPr lang="ru-RU" sz="1400" dirty="0"/>
              <a:t>поля, геттеры/сеттеры ...</a:t>
            </a:r>
          </a:p>
          <a:p>
            <a:endParaRPr lang="ru-RU" sz="1400" dirty="0"/>
          </a:p>
          <a:p>
            <a:r>
              <a:rPr lang="ru-RU" sz="1400" dirty="0"/>
              <a:t>    </a:t>
            </a:r>
            <a:r>
              <a:rPr lang="en-US" sz="1400" dirty="0"/>
              <a:t>public </a:t>
            </a:r>
            <a:r>
              <a:rPr lang="en-US" sz="1400" dirty="0" err="1"/>
              <a:t>boolean</a:t>
            </a:r>
            <a:r>
              <a:rPr lang="en-US" sz="1400" dirty="0"/>
              <a:t> </a:t>
            </a:r>
            <a:r>
              <a:rPr lang="en-US" sz="1400" dirty="0" err="1"/>
              <a:t>isEligibleForBonus</a:t>
            </a:r>
            <a:r>
              <a:rPr lang="en-US" sz="1400" dirty="0"/>
              <a:t>() {</a:t>
            </a:r>
          </a:p>
          <a:p>
            <a:r>
              <a:rPr lang="en-US" sz="1400" dirty="0"/>
              <a:t>        return </a:t>
            </a:r>
            <a:r>
              <a:rPr lang="en-US" sz="1400" dirty="0" err="1"/>
              <a:t>this.yearsOfExperience</a:t>
            </a:r>
            <a:r>
              <a:rPr lang="en-US" sz="1400" dirty="0"/>
              <a:t> &gt;= 3 &amp;&amp; </a:t>
            </a:r>
          </a:p>
          <a:p>
            <a:r>
              <a:rPr lang="en-US" sz="1400" dirty="0"/>
              <a:t>               </a:t>
            </a:r>
            <a:r>
              <a:rPr lang="en-US" sz="1400" dirty="0" err="1"/>
              <a:t>this.skills.contains</a:t>
            </a:r>
            <a:r>
              <a:rPr lang="en-US" sz="1400" dirty="0"/>
              <a:t>("Leadership");</a:t>
            </a:r>
          </a:p>
          <a:p>
            <a:r>
              <a:rPr lang="en-US" sz="1400" dirty="0"/>
              <a:t>    }</a:t>
            </a:r>
          </a:p>
          <a:p>
            <a:r>
              <a:rPr lang="en-US" sz="1400" dirty="0"/>
              <a:t>}</a:t>
            </a:r>
          </a:p>
          <a:p>
            <a:endParaRPr lang="en-US" sz="1400" dirty="0"/>
          </a:p>
          <a:p>
            <a:r>
              <a:rPr lang="en-US" sz="1400" dirty="0"/>
              <a:t>// </a:t>
            </a:r>
            <a:r>
              <a:rPr lang="ru-RU" sz="1400" dirty="0"/>
              <a:t>Клиентский код стал чище:</a:t>
            </a:r>
          </a:p>
          <a:p>
            <a:r>
              <a:rPr lang="en-US" sz="1400" dirty="0" err="1"/>
              <a:t>boolean</a:t>
            </a:r>
            <a:r>
              <a:rPr lang="en-US" sz="1400" dirty="0"/>
              <a:t> eligible = </a:t>
            </a:r>
            <a:r>
              <a:rPr lang="en-US" sz="1400" dirty="0" err="1"/>
              <a:t>emp.isEligibleForBonus</a:t>
            </a:r>
            <a:r>
              <a:rPr lang="en-US" sz="1400" dirty="0"/>
              <a:t>();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41287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Класс данных</a:t>
            </a:r>
            <a:br>
              <a:rPr lang="ru-RU" b="1" dirty="0"/>
            </a:br>
            <a:r>
              <a:rPr lang="ru-RU" b="1" dirty="0"/>
              <a:t>Также известен как: 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 smtClean="0"/>
              <a:t>Class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36320" y="1871859"/>
            <a:ext cx="10058400" cy="1150015"/>
          </a:xfrm>
        </p:spPr>
        <p:txBody>
          <a:bodyPr>
            <a:noAutofit/>
          </a:bodyPr>
          <a:lstStyle/>
          <a:p>
            <a:r>
              <a:rPr lang="ru-RU" b="1" dirty="0"/>
              <a:t>Лечение</a:t>
            </a:r>
          </a:p>
          <a:p>
            <a:r>
              <a:rPr lang="ru-RU" dirty="0"/>
              <a:t>После того как класс наполнился осмысленными методами, возможно, стоит подумать об уничтожении старых методов доступа к данным, которые дают слишком открытый доступ к данным класса. В этом вам поможет </a:t>
            </a:r>
            <a:r>
              <a:rPr lang="ru-RU" b="1" dirty="0">
                <a:hlinkClick r:id="rId2"/>
              </a:rPr>
              <a:t>удаление сеттера</a:t>
            </a:r>
            <a:r>
              <a:rPr lang="ru-RU" dirty="0"/>
              <a:t> и </a:t>
            </a:r>
            <a:r>
              <a:rPr lang="ru-RU" b="1" dirty="0">
                <a:hlinkClick r:id="rId3"/>
              </a:rPr>
              <a:t>сокрытие метода</a:t>
            </a:r>
            <a:r>
              <a:rPr lang="ru-RU" dirty="0"/>
              <a:t>.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52549" y="3568067"/>
            <a:ext cx="5706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1D1D1F"/>
                </a:solidFill>
                <a:latin typeface="system-ui"/>
              </a:rPr>
              <a:t>До: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52549" y="4325713"/>
            <a:ext cx="4728754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public class Employee {</a:t>
            </a:r>
          </a:p>
          <a:p>
            <a:r>
              <a:rPr lang="en-US" sz="1400" dirty="0"/>
              <a:t>    private double salary;</a:t>
            </a:r>
          </a:p>
          <a:p>
            <a:r>
              <a:rPr lang="en-US" sz="1400" dirty="0"/>
              <a:t>    public void </a:t>
            </a:r>
            <a:r>
              <a:rPr lang="en-US" sz="1400" dirty="0" err="1"/>
              <a:t>setSalary</a:t>
            </a:r>
            <a:r>
              <a:rPr lang="en-US" sz="1400" dirty="0"/>
              <a:t>(double salary) { </a:t>
            </a:r>
            <a:r>
              <a:rPr lang="en-US" sz="1400" dirty="0" err="1"/>
              <a:t>this.salary</a:t>
            </a:r>
            <a:r>
              <a:rPr lang="en-US" sz="1400" dirty="0"/>
              <a:t> = salary; } // </a:t>
            </a:r>
            <a:r>
              <a:rPr lang="ru-RU" sz="1400" dirty="0"/>
              <a:t>Прямое изменение</a:t>
            </a:r>
          </a:p>
          <a:p>
            <a:r>
              <a:rPr lang="ru-RU" sz="1400" dirty="0"/>
              <a:t>    </a:t>
            </a:r>
            <a:r>
              <a:rPr lang="en-US" sz="1400" dirty="0"/>
              <a:t>public double </a:t>
            </a:r>
            <a:r>
              <a:rPr lang="en-US" sz="1400" dirty="0" err="1"/>
              <a:t>getSalary</a:t>
            </a:r>
            <a:r>
              <a:rPr lang="en-US" sz="1400" dirty="0"/>
              <a:t>() { return salary; } // </a:t>
            </a:r>
            <a:r>
              <a:rPr lang="ru-RU" sz="1400" dirty="0"/>
              <a:t>Утечка финансовых данных</a:t>
            </a:r>
          </a:p>
          <a:p>
            <a:r>
              <a:rPr lang="ru-RU" sz="1400" dirty="0"/>
              <a:t>}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163543" y="3304461"/>
            <a:ext cx="9657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1D1D1F"/>
                </a:solidFill>
                <a:latin typeface="system-ui"/>
              </a:rPr>
              <a:t>После: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012526" y="3156373"/>
            <a:ext cx="7367452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public class Employee {</a:t>
            </a:r>
          </a:p>
          <a:p>
            <a:r>
              <a:rPr lang="en-US" sz="1400" dirty="0"/>
              <a:t>    private double salary</a:t>
            </a:r>
            <a:r>
              <a:rPr lang="en-US" sz="1400" dirty="0" smtClean="0"/>
              <a:t>;</a:t>
            </a:r>
            <a:endParaRPr lang="en-US" sz="1400" dirty="0"/>
          </a:p>
          <a:p>
            <a:r>
              <a:rPr lang="en-US" sz="1400" dirty="0"/>
              <a:t>    // </a:t>
            </a:r>
            <a:r>
              <a:rPr lang="ru-RU" sz="1400" dirty="0"/>
              <a:t>Сеттер удалён!</a:t>
            </a:r>
          </a:p>
          <a:p>
            <a:r>
              <a:rPr lang="ru-RU" sz="1400" dirty="0"/>
              <a:t>    // Геттер </a:t>
            </a:r>
            <a:r>
              <a:rPr lang="en-US" sz="1400" dirty="0"/>
              <a:t>salary </a:t>
            </a:r>
            <a:r>
              <a:rPr lang="ru-RU" sz="1400" dirty="0"/>
              <a:t>скрыт (</a:t>
            </a:r>
            <a:r>
              <a:rPr lang="en-US" sz="1400" dirty="0"/>
              <a:t>package-private </a:t>
            </a:r>
            <a:r>
              <a:rPr lang="ru-RU" sz="1400" dirty="0"/>
              <a:t>или удалён вовсе</a:t>
            </a:r>
            <a:r>
              <a:rPr lang="ru-RU" sz="1400" dirty="0" smtClean="0"/>
              <a:t>)</a:t>
            </a:r>
            <a:endParaRPr lang="ru-RU" sz="1400" dirty="0"/>
          </a:p>
          <a:p>
            <a:r>
              <a:rPr lang="ru-RU" sz="1400" dirty="0"/>
              <a:t>    </a:t>
            </a:r>
            <a:r>
              <a:rPr lang="en-US" sz="1400" dirty="0"/>
              <a:t>public void </a:t>
            </a:r>
            <a:r>
              <a:rPr lang="en-US" sz="1400" dirty="0" err="1"/>
              <a:t>adjustSalary</a:t>
            </a:r>
            <a:r>
              <a:rPr lang="en-US" sz="1400" dirty="0"/>
              <a:t>(double percentage) {</a:t>
            </a:r>
          </a:p>
          <a:p>
            <a:r>
              <a:rPr lang="en-US" sz="1400" dirty="0"/>
              <a:t>        if (percentage &lt; -0.5) throw new </a:t>
            </a:r>
            <a:r>
              <a:rPr lang="en-US" sz="1400" dirty="0" err="1"/>
              <a:t>IllegalArgumentException</a:t>
            </a:r>
            <a:r>
              <a:rPr lang="en-US" sz="1400" dirty="0"/>
              <a:t>("</a:t>
            </a:r>
            <a:r>
              <a:rPr lang="ru-RU" sz="1400" dirty="0"/>
              <a:t>Снижение &gt;50% запрещено");</a:t>
            </a:r>
          </a:p>
          <a:p>
            <a:r>
              <a:rPr lang="ru-RU" sz="1400" dirty="0"/>
              <a:t>        </a:t>
            </a:r>
            <a:r>
              <a:rPr lang="en-US" sz="1400" dirty="0" err="1"/>
              <a:t>this.salary</a:t>
            </a:r>
            <a:r>
              <a:rPr lang="en-US" sz="1400" dirty="0"/>
              <a:t> *= (1 + percentage);</a:t>
            </a:r>
          </a:p>
          <a:p>
            <a:r>
              <a:rPr lang="en-US" sz="1400" dirty="0"/>
              <a:t>    </a:t>
            </a:r>
            <a:r>
              <a:rPr lang="en-US" sz="1400" dirty="0" smtClean="0"/>
              <a:t>}</a:t>
            </a:r>
            <a:endParaRPr lang="en-US" sz="1400" dirty="0"/>
          </a:p>
          <a:p>
            <a:r>
              <a:rPr lang="en-US" sz="1400" dirty="0"/>
              <a:t>    // </a:t>
            </a:r>
            <a:r>
              <a:rPr lang="ru-RU" sz="1400" dirty="0"/>
              <a:t>Вместо сырой зарплаты отдаём только статус или отформатированную строку</a:t>
            </a:r>
          </a:p>
          <a:p>
            <a:r>
              <a:rPr lang="ru-RU" sz="1400" dirty="0"/>
              <a:t>    </a:t>
            </a:r>
            <a:r>
              <a:rPr lang="en-US" sz="1400" dirty="0"/>
              <a:t>public String </a:t>
            </a:r>
            <a:r>
              <a:rPr lang="en-US" sz="1400" dirty="0" err="1"/>
              <a:t>getSalaryGrade</a:t>
            </a:r>
            <a:r>
              <a:rPr lang="en-US" sz="1400" dirty="0"/>
              <a:t>() {</a:t>
            </a:r>
          </a:p>
          <a:p>
            <a:r>
              <a:rPr lang="en-US" sz="1400" dirty="0"/>
              <a:t>        if (salary &gt; 100000) return "Senior";</a:t>
            </a:r>
          </a:p>
          <a:p>
            <a:r>
              <a:rPr lang="en-US" sz="1400" dirty="0"/>
              <a:t>        if (salary &gt; 60000) return "Middle";</a:t>
            </a:r>
          </a:p>
          <a:p>
            <a:r>
              <a:rPr lang="en-US" sz="1400" dirty="0"/>
              <a:t>        return "Junior";</a:t>
            </a:r>
          </a:p>
          <a:p>
            <a:r>
              <a:rPr lang="en-US" sz="1400" dirty="0"/>
              <a:t>    }</a:t>
            </a:r>
          </a:p>
          <a:p>
            <a:r>
              <a:rPr lang="en-US" sz="1400" dirty="0"/>
              <a:t>}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484810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Класс данных</a:t>
            </a:r>
            <a:br>
              <a:rPr lang="ru-RU" b="1" dirty="0"/>
            </a:br>
            <a:r>
              <a:rPr lang="ru-RU" b="1" dirty="0"/>
              <a:t>Также известен как: 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 smtClean="0"/>
              <a:t>Class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36320" y="1871859"/>
            <a:ext cx="10058400" cy="1150015"/>
          </a:xfrm>
        </p:spPr>
        <p:txBody>
          <a:bodyPr>
            <a:noAutofit/>
          </a:bodyPr>
          <a:lstStyle/>
          <a:p>
            <a:r>
              <a:rPr lang="ru-RU" b="1" dirty="0"/>
              <a:t>Выигрыш</a:t>
            </a:r>
          </a:p>
          <a:p>
            <a:r>
              <a:rPr lang="ru-RU" dirty="0"/>
              <a:t>Улучшает понимание и организацию кода. Операции над определёнными данными теперь собраны в одном месте, их не надо искать по всему коду.</a:t>
            </a:r>
          </a:p>
          <a:p>
            <a:r>
              <a:rPr lang="ru-RU" dirty="0"/>
              <a:t>Может вскрыть факты дублирования клиентского кода.</a:t>
            </a:r>
          </a:p>
        </p:txBody>
      </p:sp>
    </p:spTree>
    <p:extLst>
      <p:ext uri="{BB962C8B-B14F-4D97-AF65-F5344CB8AC3E}">
        <p14:creationId xmlns:p14="http://schemas.microsoft.com/office/powerpoint/2010/main" val="620832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Ленивый класс</a:t>
            </a:r>
            <a:br>
              <a:rPr lang="ru-RU" b="1" dirty="0"/>
            </a:br>
            <a:r>
              <a:rPr lang="ru-RU" b="1" dirty="0"/>
              <a:t>Также известен как: </a:t>
            </a:r>
            <a:r>
              <a:rPr lang="ru-RU" dirty="0" err="1"/>
              <a:t>Lazy</a:t>
            </a:r>
            <a:r>
              <a:rPr lang="ru-RU" dirty="0"/>
              <a:t> </a:t>
            </a:r>
            <a:r>
              <a:rPr lang="ru-RU" dirty="0" err="1"/>
              <a:t>Class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36320" y="1871859"/>
            <a:ext cx="10058400" cy="3457787"/>
          </a:xfrm>
        </p:spPr>
        <p:txBody>
          <a:bodyPr>
            <a:noAutofit/>
          </a:bodyPr>
          <a:lstStyle/>
          <a:p>
            <a:r>
              <a:rPr lang="ru-RU" b="1" dirty="0"/>
              <a:t>Симптомы и признаки</a:t>
            </a:r>
          </a:p>
          <a:p>
            <a:r>
              <a:rPr lang="ru-RU" dirty="0" smtClean="0"/>
              <a:t>На понимание и поддержку классов всегда требуются затраты времени и денег. А потому, если класс не делает достаточно много, чтобы уделять ему достаточно внимания, он должен быть уничтожен.</a:t>
            </a:r>
            <a:endParaRPr lang="ru-RU" dirty="0"/>
          </a:p>
          <a:p>
            <a:r>
              <a:rPr lang="ru-RU" b="1" dirty="0"/>
              <a:t>Причины появления</a:t>
            </a:r>
          </a:p>
          <a:p>
            <a:r>
              <a:rPr lang="ru-RU" dirty="0"/>
              <a:t>Это может произойти, если класс был задуман как полнофункциональный, но в результате </a:t>
            </a:r>
            <a:r>
              <a:rPr lang="ru-RU" dirty="0" err="1"/>
              <a:t>рефакторинга</a:t>
            </a:r>
            <a:r>
              <a:rPr lang="ru-RU" dirty="0"/>
              <a:t> ужался до неприличных размеров.</a:t>
            </a:r>
          </a:p>
          <a:p>
            <a:r>
              <a:rPr lang="ru-RU" dirty="0"/>
              <a:t>Либо класс создавался в расчёте на некие будущие разработки, до которых руки так и не дошли.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7411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Ленивый класс</a:t>
            </a:r>
            <a:br>
              <a:rPr lang="ru-RU" b="1" dirty="0"/>
            </a:br>
            <a:r>
              <a:rPr lang="ru-RU" b="1" dirty="0"/>
              <a:t>Также известен как: </a:t>
            </a:r>
            <a:r>
              <a:rPr lang="ru-RU" dirty="0" err="1"/>
              <a:t>Lazy</a:t>
            </a:r>
            <a:r>
              <a:rPr lang="ru-RU" dirty="0"/>
              <a:t> </a:t>
            </a:r>
            <a:r>
              <a:rPr lang="ru-RU" dirty="0" err="1"/>
              <a:t>Class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36320" y="1871859"/>
            <a:ext cx="10058400" cy="1507067"/>
          </a:xfrm>
        </p:spPr>
        <p:txBody>
          <a:bodyPr>
            <a:noAutofit/>
          </a:bodyPr>
          <a:lstStyle/>
          <a:p>
            <a:r>
              <a:rPr lang="ru-RU" b="1" dirty="0"/>
              <a:t>Лечение</a:t>
            </a:r>
          </a:p>
          <a:p>
            <a:r>
              <a:rPr lang="ru-RU" dirty="0"/>
              <a:t>Почти бесполезные компоненты должны быть подвергнуты </a:t>
            </a:r>
            <a:r>
              <a:rPr lang="ru-RU" b="1" dirty="0">
                <a:hlinkClick r:id="rId2"/>
              </a:rPr>
              <a:t>встраиванию </a:t>
            </a:r>
            <a:r>
              <a:rPr lang="ru-RU" b="1" dirty="0" smtClean="0">
                <a:hlinkClick r:id="rId2"/>
              </a:rPr>
              <a:t>класса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33006" y="2910960"/>
            <a:ext cx="5706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1D1D1F"/>
                </a:solidFill>
                <a:latin typeface="system-ui"/>
              </a:rPr>
              <a:t>До: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33005" y="3280292"/>
            <a:ext cx="7339245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// Задумывался как центральный расчётчик, но после изменений остался только один метод</a:t>
            </a:r>
          </a:p>
          <a:p>
            <a:r>
              <a:rPr lang="ru-RU" sz="1400" dirty="0" err="1"/>
              <a:t>public</a:t>
            </a:r>
            <a:r>
              <a:rPr lang="ru-RU" sz="1400" dirty="0"/>
              <a:t> </a:t>
            </a:r>
            <a:r>
              <a:rPr lang="ru-RU" sz="1400" dirty="0" err="1"/>
              <a:t>class</a:t>
            </a:r>
            <a:r>
              <a:rPr lang="ru-RU" sz="1400" dirty="0"/>
              <a:t> </a:t>
            </a:r>
            <a:r>
              <a:rPr lang="ru-RU" sz="1400" dirty="0" err="1"/>
              <a:t>OrderDiscountHelper</a:t>
            </a:r>
            <a:r>
              <a:rPr lang="ru-RU" sz="1400" dirty="0"/>
              <a:t> {</a:t>
            </a:r>
          </a:p>
          <a:p>
            <a:r>
              <a:rPr lang="ru-RU" sz="1400" dirty="0"/>
              <a:t>    </a:t>
            </a:r>
            <a:r>
              <a:rPr lang="ru-RU" sz="1400" dirty="0" err="1"/>
              <a:t>public</a:t>
            </a:r>
            <a:r>
              <a:rPr lang="ru-RU" sz="1400" dirty="0"/>
              <a:t> </a:t>
            </a:r>
            <a:r>
              <a:rPr lang="ru-RU" sz="1400" dirty="0" err="1"/>
              <a:t>double</a:t>
            </a:r>
            <a:r>
              <a:rPr lang="ru-RU" sz="1400" dirty="0"/>
              <a:t> </a:t>
            </a:r>
            <a:r>
              <a:rPr lang="ru-RU" sz="1400" dirty="0" err="1"/>
              <a:t>applyStandardDiscount</a:t>
            </a:r>
            <a:r>
              <a:rPr lang="ru-RU" sz="1400" dirty="0"/>
              <a:t>(</a:t>
            </a:r>
            <a:r>
              <a:rPr lang="ru-RU" sz="1400" dirty="0" err="1"/>
              <a:t>double</a:t>
            </a:r>
            <a:r>
              <a:rPr lang="ru-RU" sz="1400" dirty="0"/>
              <a:t> </a:t>
            </a:r>
            <a:r>
              <a:rPr lang="ru-RU" sz="1400" dirty="0" err="1"/>
              <a:t>amount</a:t>
            </a:r>
            <a:r>
              <a:rPr lang="ru-RU" sz="1400" dirty="0"/>
              <a:t>) {</a:t>
            </a:r>
          </a:p>
          <a:p>
            <a:r>
              <a:rPr lang="ru-RU" sz="1400" dirty="0"/>
              <a:t>        </a:t>
            </a:r>
            <a:r>
              <a:rPr lang="ru-RU" sz="1400" dirty="0" err="1"/>
              <a:t>return</a:t>
            </a:r>
            <a:r>
              <a:rPr lang="ru-RU" sz="1400" dirty="0"/>
              <a:t> </a:t>
            </a:r>
            <a:r>
              <a:rPr lang="ru-RU" sz="1400" dirty="0" err="1"/>
              <a:t>amount</a:t>
            </a:r>
            <a:r>
              <a:rPr lang="ru-RU" sz="1400" dirty="0"/>
              <a:t> * 0.9; // Просто 10% скидка</a:t>
            </a:r>
          </a:p>
          <a:p>
            <a:r>
              <a:rPr lang="ru-RU" sz="1400" dirty="0"/>
              <a:t>    }</a:t>
            </a:r>
          </a:p>
          <a:p>
            <a:r>
              <a:rPr lang="ru-RU" sz="1400" dirty="0" smtClean="0"/>
              <a:t>}</a:t>
            </a:r>
            <a:endParaRPr lang="ru-RU" sz="1400" dirty="0"/>
          </a:p>
          <a:p>
            <a:r>
              <a:rPr lang="ru-RU" sz="1400" dirty="0"/>
              <a:t>// Клиентский код:</a:t>
            </a:r>
          </a:p>
          <a:p>
            <a:r>
              <a:rPr lang="ru-RU" sz="1400" dirty="0" err="1"/>
              <a:t>public</a:t>
            </a:r>
            <a:r>
              <a:rPr lang="ru-RU" sz="1400" dirty="0"/>
              <a:t> </a:t>
            </a:r>
            <a:r>
              <a:rPr lang="ru-RU" sz="1400" dirty="0" err="1"/>
              <a:t>class</a:t>
            </a:r>
            <a:r>
              <a:rPr lang="ru-RU" sz="1400" dirty="0"/>
              <a:t> </a:t>
            </a:r>
            <a:r>
              <a:rPr lang="ru-RU" sz="1400" dirty="0" err="1"/>
              <a:t>OrderService</a:t>
            </a:r>
            <a:r>
              <a:rPr lang="ru-RU" sz="1400" dirty="0"/>
              <a:t> {</a:t>
            </a:r>
          </a:p>
          <a:p>
            <a:r>
              <a:rPr lang="ru-RU" sz="1400" dirty="0"/>
              <a:t>    </a:t>
            </a:r>
            <a:r>
              <a:rPr lang="ru-RU" sz="1400" dirty="0" err="1"/>
              <a:t>private</a:t>
            </a:r>
            <a:r>
              <a:rPr lang="ru-RU" sz="1400" dirty="0"/>
              <a:t> </a:t>
            </a:r>
            <a:r>
              <a:rPr lang="ru-RU" sz="1400" dirty="0" err="1"/>
              <a:t>OrderDiscountHelper</a:t>
            </a:r>
            <a:r>
              <a:rPr lang="ru-RU" sz="1400" dirty="0"/>
              <a:t> </a:t>
            </a:r>
            <a:r>
              <a:rPr lang="ru-RU" sz="1400" dirty="0" err="1"/>
              <a:t>discountHelper</a:t>
            </a:r>
            <a:r>
              <a:rPr lang="ru-RU" sz="1400" dirty="0"/>
              <a:t> = </a:t>
            </a:r>
            <a:r>
              <a:rPr lang="ru-RU" sz="1400" dirty="0" err="1"/>
              <a:t>new</a:t>
            </a:r>
            <a:r>
              <a:rPr lang="ru-RU" sz="1400" dirty="0"/>
              <a:t> </a:t>
            </a:r>
            <a:r>
              <a:rPr lang="ru-RU" sz="1400" dirty="0" err="1"/>
              <a:t>OrderDiscountHelper</a:t>
            </a:r>
            <a:r>
              <a:rPr lang="ru-RU" sz="1400" dirty="0"/>
              <a:t>();</a:t>
            </a:r>
          </a:p>
          <a:p>
            <a:endParaRPr lang="ru-RU" sz="1400" dirty="0"/>
          </a:p>
          <a:p>
            <a:r>
              <a:rPr lang="ru-RU" sz="1400" dirty="0"/>
              <a:t>    </a:t>
            </a:r>
            <a:r>
              <a:rPr lang="ru-RU" sz="1400" dirty="0" err="1"/>
              <a:t>public</a:t>
            </a:r>
            <a:r>
              <a:rPr lang="ru-RU" sz="1400" dirty="0"/>
              <a:t> </a:t>
            </a:r>
            <a:r>
              <a:rPr lang="ru-RU" sz="1400" dirty="0" err="1"/>
              <a:t>double</a:t>
            </a:r>
            <a:r>
              <a:rPr lang="ru-RU" sz="1400" dirty="0"/>
              <a:t> </a:t>
            </a:r>
            <a:r>
              <a:rPr lang="ru-RU" sz="1400" dirty="0" err="1"/>
              <a:t>calculateTotal</a:t>
            </a:r>
            <a:r>
              <a:rPr lang="ru-RU" sz="1400" dirty="0"/>
              <a:t>(</a:t>
            </a:r>
            <a:r>
              <a:rPr lang="ru-RU" sz="1400" dirty="0" err="1"/>
              <a:t>double</a:t>
            </a:r>
            <a:r>
              <a:rPr lang="ru-RU" sz="1400" dirty="0"/>
              <a:t> </a:t>
            </a:r>
            <a:r>
              <a:rPr lang="ru-RU" sz="1400" dirty="0" err="1"/>
              <a:t>amount</a:t>
            </a:r>
            <a:r>
              <a:rPr lang="ru-RU" sz="1400" dirty="0"/>
              <a:t>) {</a:t>
            </a:r>
          </a:p>
          <a:p>
            <a:r>
              <a:rPr lang="ru-RU" sz="1400" dirty="0"/>
              <a:t>        </a:t>
            </a:r>
            <a:r>
              <a:rPr lang="ru-RU" sz="1400" dirty="0" err="1"/>
              <a:t>return</a:t>
            </a:r>
            <a:r>
              <a:rPr lang="ru-RU" sz="1400" dirty="0"/>
              <a:t> </a:t>
            </a:r>
            <a:r>
              <a:rPr lang="ru-RU" sz="1400" dirty="0" err="1"/>
              <a:t>discountHelper.applyStandardDiscount</a:t>
            </a:r>
            <a:r>
              <a:rPr lang="ru-RU" sz="1400" dirty="0"/>
              <a:t>(</a:t>
            </a:r>
            <a:r>
              <a:rPr lang="ru-RU" sz="1400" dirty="0" err="1"/>
              <a:t>amount</a:t>
            </a:r>
            <a:r>
              <a:rPr lang="ru-RU" sz="1400" dirty="0"/>
              <a:t>);</a:t>
            </a:r>
          </a:p>
          <a:p>
            <a:r>
              <a:rPr lang="ru-RU" sz="1400" dirty="0"/>
              <a:t>    }</a:t>
            </a:r>
          </a:p>
          <a:p>
            <a:r>
              <a:rPr lang="ru-RU" sz="1400" dirty="0"/>
              <a:t>}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672250" y="3009594"/>
            <a:ext cx="9657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1D1D1F"/>
                </a:solidFill>
                <a:latin typeface="system-ui"/>
              </a:rPr>
              <a:t>После: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7672250" y="3513425"/>
            <a:ext cx="4403209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err="1"/>
              <a:t>public</a:t>
            </a:r>
            <a:r>
              <a:rPr lang="ru-RU" sz="1400" dirty="0"/>
              <a:t> </a:t>
            </a:r>
            <a:r>
              <a:rPr lang="ru-RU" sz="1400" dirty="0" err="1"/>
              <a:t>class</a:t>
            </a:r>
            <a:r>
              <a:rPr lang="ru-RU" sz="1400" dirty="0"/>
              <a:t> </a:t>
            </a:r>
            <a:r>
              <a:rPr lang="ru-RU" sz="1400" dirty="0" err="1"/>
              <a:t>OrderService</a:t>
            </a:r>
            <a:r>
              <a:rPr lang="ru-RU" sz="1400" dirty="0"/>
              <a:t> {</a:t>
            </a:r>
          </a:p>
          <a:p>
            <a:r>
              <a:rPr lang="ru-RU" sz="1400" dirty="0"/>
              <a:t>    // Класс </a:t>
            </a:r>
            <a:r>
              <a:rPr lang="ru-RU" sz="1400" dirty="0" err="1"/>
              <a:t>OrderDiscountHelper</a:t>
            </a:r>
            <a:r>
              <a:rPr lang="ru-RU" sz="1400" dirty="0"/>
              <a:t> удалён</a:t>
            </a:r>
          </a:p>
          <a:p>
            <a:endParaRPr lang="ru-RU" sz="1400" dirty="0"/>
          </a:p>
          <a:p>
            <a:r>
              <a:rPr lang="ru-RU" sz="1400" dirty="0"/>
              <a:t>    </a:t>
            </a:r>
            <a:r>
              <a:rPr lang="ru-RU" sz="1400" dirty="0" err="1"/>
              <a:t>public</a:t>
            </a:r>
            <a:r>
              <a:rPr lang="ru-RU" sz="1400" dirty="0"/>
              <a:t> </a:t>
            </a:r>
            <a:r>
              <a:rPr lang="ru-RU" sz="1400" dirty="0" err="1"/>
              <a:t>double</a:t>
            </a:r>
            <a:r>
              <a:rPr lang="ru-RU" sz="1400" dirty="0"/>
              <a:t> </a:t>
            </a:r>
            <a:r>
              <a:rPr lang="ru-RU" sz="1400" dirty="0" err="1"/>
              <a:t>calculateTotal</a:t>
            </a:r>
            <a:r>
              <a:rPr lang="ru-RU" sz="1400" dirty="0"/>
              <a:t>(</a:t>
            </a:r>
            <a:r>
              <a:rPr lang="ru-RU" sz="1400" dirty="0" err="1"/>
              <a:t>double</a:t>
            </a:r>
            <a:r>
              <a:rPr lang="ru-RU" sz="1400" dirty="0"/>
              <a:t> </a:t>
            </a:r>
            <a:r>
              <a:rPr lang="ru-RU" sz="1400" dirty="0" err="1"/>
              <a:t>amount</a:t>
            </a:r>
            <a:r>
              <a:rPr lang="ru-RU" sz="1400" dirty="0"/>
              <a:t>) {</a:t>
            </a:r>
          </a:p>
          <a:p>
            <a:r>
              <a:rPr lang="ru-RU" sz="1400" dirty="0"/>
              <a:t>        </a:t>
            </a:r>
            <a:r>
              <a:rPr lang="ru-RU" sz="1400" dirty="0" err="1"/>
              <a:t>return</a:t>
            </a:r>
            <a:r>
              <a:rPr lang="ru-RU" sz="1400" dirty="0"/>
              <a:t> </a:t>
            </a:r>
            <a:r>
              <a:rPr lang="ru-RU" sz="1400" dirty="0" err="1"/>
              <a:t>amount</a:t>
            </a:r>
            <a:r>
              <a:rPr lang="ru-RU" sz="1400" dirty="0"/>
              <a:t> * 0.9; // Логика встроена напрямую</a:t>
            </a:r>
          </a:p>
          <a:p>
            <a:r>
              <a:rPr lang="ru-RU" sz="1400" dirty="0"/>
              <a:t>    }</a:t>
            </a:r>
          </a:p>
          <a:p>
            <a:r>
              <a:rPr lang="ru-RU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41384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Ленивый класс</a:t>
            </a:r>
            <a:br>
              <a:rPr lang="ru-RU" b="1" dirty="0"/>
            </a:br>
            <a:r>
              <a:rPr lang="ru-RU" b="1" dirty="0"/>
              <a:t>Также известен как: </a:t>
            </a:r>
            <a:r>
              <a:rPr lang="ru-RU" dirty="0" err="1"/>
              <a:t>Lazy</a:t>
            </a:r>
            <a:r>
              <a:rPr lang="ru-RU" dirty="0"/>
              <a:t> </a:t>
            </a:r>
            <a:r>
              <a:rPr lang="ru-RU" dirty="0" err="1"/>
              <a:t>Class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36320" y="1871859"/>
            <a:ext cx="10058400" cy="1507067"/>
          </a:xfrm>
        </p:spPr>
        <p:txBody>
          <a:bodyPr>
            <a:noAutofit/>
          </a:bodyPr>
          <a:lstStyle/>
          <a:p>
            <a:r>
              <a:rPr lang="ru-RU" b="1" dirty="0"/>
              <a:t>Лечение</a:t>
            </a:r>
          </a:p>
          <a:p>
            <a:r>
              <a:rPr lang="ru-RU" dirty="0"/>
              <a:t>При наличии подклассов с недостаточными функциями попробуйте </a:t>
            </a:r>
            <a:r>
              <a:rPr lang="ru-RU" b="1" dirty="0">
                <a:hlinkClick r:id="rId2"/>
              </a:rPr>
              <a:t>свёртывание иерархии</a:t>
            </a:r>
            <a:r>
              <a:rPr lang="ru-RU" dirty="0"/>
              <a:t>.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33006" y="2910960"/>
            <a:ext cx="5706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1D1D1F"/>
                </a:solidFill>
                <a:latin typeface="system-ui"/>
              </a:rPr>
              <a:t>До: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33005" y="3280292"/>
            <a:ext cx="7339245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public abstract class </a:t>
            </a:r>
            <a:r>
              <a:rPr lang="en-US" sz="1400" dirty="0" err="1"/>
              <a:t>ShippingCalculator</a:t>
            </a:r>
            <a:r>
              <a:rPr lang="en-US" sz="1400" dirty="0"/>
              <a:t> {</a:t>
            </a:r>
          </a:p>
          <a:p>
            <a:r>
              <a:rPr lang="en-US" sz="1400" dirty="0"/>
              <a:t>    public abstract double calculate(double weight);</a:t>
            </a:r>
          </a:p>
          <a:p>
            <a:r>
              <a:rPr lang="en-US" sz="1400" dirty="0"/>
              <a:t>}</a:t>
            </a:r>
          </a:p>
          <a:p>
            <a:endParaRPr lang="en-US" sz="1400" dirty="0"/>
          </a:p>
          <a:p>
            <a:r>
              <a:rPr lang="en-US" sz="1400" dirty="0"/>
              <a:t>public class </a:t>
            </a:r>
            <a:r>
              <a:rPr lang="en-US" sz="1400" dirty="0" err="1"/>
              <a:t>StandardShipping</a:t>
            </a:r>
            <a:r>
              <a:rPr lang="en-US" sz="1400" dirty="0"/>
              <a:t> extends </a:t>
            </a:r>
            <a:r>
              <a:rPr lang="en-US" sz="1400" dirty="0" err="1"/>
              <a:t>ShippingCalculator</a:t>
            </a:r>
            <a:r>
              <a:rPr lang="en-US" sz="1400" dirty="0"/>
              <a:t> {</a:t>
            </a:r>
          </a:p>
          <a:p>
            <a:r>
              <a:rPr lang="en-US" sz="1400" dirty="0"/>
              <a:t>    @Override public double calculate(double w) { return w * 2.0; }</a:t>
            </a:r>
          </a:p>
          <a:p>
            <a:r>
              <a:rPr lang="en-US" sz="1400" dirty="0"/>
              <a:t>}</a:t>
            </a:r>
          </a:p>
          <a:p>
            <a:endParaRPr lang="en-US" sz="1400" dirty="0"/>
          </a:p>
          <a:p>
            <a:r>
              <a:rPr lang="en-US" sz="1400" dirty="0"/>
              <a:t>// </a:t>
            </a:r>
            <a:r>
              <a:rPr lang="ru-RU" sz="1400" dirty="0"/>
              <a:t>Ленивый подкласс: задумывался для "экспресс-доставки", </a:t>
            </a:r>
          </a:p>
          <a:p>
            <a:r>
              <a:rPr lang="ru-RU" sz="1400" dirty="0"/>
              <a:t>// но бизнес так и не определил правила, поэтому скопировал родителя</a:t>
            </a:r>
          </a:p>
          <a:p>
            <a:r>
              <a:rPr lang="en-US" sz="1400" dirty="0"/>
              <a:t>public class </a:t>
            </a:r>
            <a:r>
              <a:rPr lang="en-US" sz="1400" dirty="0" err="1"/>
              <a:t>ExpressShipping</a:t>
            </a:r>
            <a:r>
              <a:rPr lang="en-US" sz="1400" dirty="0"/>
              <a:t> extends </a:t>
            </a:r>
            <a:r>
              <a:rPr lang="en-US" sz="1400" dirty="0" err="1"/>
              <a:t>ShippingCalculator</a:t>
            </a:r>
            <a:r>
              <a:rPr lang="en-US" sz="1400" dirty="0"/>
              <a:t> {</a:t>
            </a:r>
          </a:p>
          <a:p>
            <a:r>
              <a:rPr lang="en-US" sz="1400" dirty="0"/>
              <a:t>    @Override public double calculate(double w) { return w * 2.0; }</a:t>
            </a:r>
          </a:p>
          <a:p>
            <a:r>
              <a:rPr lang="en-US" sz="1400" dirty="0"/>
              <a:t>}</a:t>
            </a:r>
            <a:endParaRPr lang="ru-RU" sz="1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065520" y="2910960"/>
            <a:ext cx="9657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1D1D1F"/>
                </a:solidFill>
                <a:latin typeface="system-ui"/>
              </a:rPr>
              <a:t>После: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942062" y="3280292"/>
            <a:ext cx="624993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public class </a:t>
            </a:r>
            <a:r>
              <a:rPr lang="en-US" sz="1400" dirty="0" err="1"/>
              <a:t>ShippingCalculator</a:t>
            </a:r>
            <a:r>
              <a:rPr lang="en-US" sz="1400" dirty="0"/>
              <a:t> {</a:t>
            </a:r>
          </a:p>
          <a:p>
            <a:r>
              <a:rPr lang="en-US" sz="1400" dirty="0"/>
              <a:t>    private final double </a:t>
            </a:r>
            <a:r>
              <a:rPr lang="en-US" sz="1400" dirty="0" err="1"/>
              <a:t>ratePerKg</a:t>
            </a:r>
            <a:r>
              <a:rPr lang="en-US" sz="1400" dirty="0"/>
              <a:t>;</a:t>
            </a:r>
          </a:p>
          <a:p>
            <a:endParaRPr lang="en-US" sz="1400" dirty="0"/>
          </a:p>
          <a:p>
            <a:r>
              <a:rPr lang="en-US" sz="1400" dirty="0"/>
              <a:t>    public </a:t>
            </a:r>
            <a:r>
              <a:rPr lang="en-US" sz="1400" dirty="0" err="1"/>
              <a:t>ShippingCalculator</a:t>
            </a:r>
            <a:r>
              <a:rPr lang="en-US" sz="1400" dirty="0"/>
              <a:t>(double </a:t>
            </a:r>
            <a:r>
              <a:rPr lang="en-US" sz="1400" dirty="0" err="1"/>
              <a:t>ratePerKg</a:t>
            </a:r>
            <a:r>
              <a:rPr lang="en-US" sz="1400" dirty="0"/>
              <a:t>) {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this.ratePerKg</a:t>
            </a:r>
            <a:r>
              <a:rPr lang="en-US" sz="1400" dirty="0"/>
              <a:t> = </a:t>
            </a:r>
            <a:r>
              <a:rPr lang="en-US" sz="1400" dirty="0" err="1"/>
              <a:t>ratePerKg</a:t>
            </a:r>
            <a:r>
              <a:rPr lang="en-US" sz="1400" dirty="0"/>
              <a:t>;</a:t>
            </a:r>
          </a:p>
          <a:p>
            <a:r>
              <a:rPr lang="en-US" sz="1400" dirty="0"/>
              <a:t>    }</a:t>
            </a:r>
          </a:p>
          <a:p>
            <a:endParaRPr lang="en-US" sz="1400" dirty="0"/>
          </a:p>
          <a:p>
            <a:r>
              <a:rPr lang="en-US" sz="1400" dirty="0"/>
              <a:t>    public double calculate(double weight) {</a:t>
            </a:r>
          </a:p>
          <a:p>
            <a:r>
              <a:rPr lang="en-US" sz="1400" dirty="0"/>
              <a:t>        return weight * </a:t>
            </a:r>
            <a:r>
              <a:rPr lang="en-US" sz="1400" dirty="0" err="1"/>
              <a:t>ratePerKg</a:t>
            </a:r>
            <a:r>
              <a:rPr lang="en-US" sz="1400" dirty="0"/>
              <a:t>;</a:t>
            </a:r>
          </a:p>
          <a:p>
            <a:r>
              <a:rPr lang="en-US" sz="1400" dirty="0"/>
              <a:t>    }</a:t>
            </a:r>
          </a:p>
          <a:p>
            <a:r>
              <a:rPr lang="en-US" sz="1400" dirty="0" smtClean="0"/>
              <a:t>}</a:t>
            </a:r>
            <a:endParaRPr lang="en-US" sz="1400" dirty="0"/>
          </a:p>
          <a:p>
            <a:r>
              <a:rPr lang="en-US" sz="1400" dirty="0"/>
              <a:t>// </a:t>
            </a:r>
            <a:r>
              <a:rPr lang="ru-RU" sz="1400" dirty="0"/>
              <a:t>Использование:</a:t>
            </a:r>
          </a:p>
          <a:p>
            <a:r>
              <a:rPr lang="en-US" sz="1400" dirty="0" err="1"/>
              <a:t>var</a:t>
            </a:r>
            <a:r>
              <a:rPr lang="en-US" sz="1400" dirty="0"/>
              <a:t> standard = new </a:t>
            </a:r>
            <a:r>
              <a:rPr lang="en-US" sz="1400" dirty="0" err="1"/>
              <a:t>ShippingCalculator</a:t>
            </a:r>
            <a:r>
              <a:rPr lang="en-US" sz="1400" dirty="0"/>
              <a:t>(2.0);</a:t>
            </a:r>
          </a:p>
          <a:p>
            <a:r>
              <a:rPr lang="en-US" sz="1400" dirty="0" err="1"/>
              <a:t>var</a:t>
            </a:r>
            <a:r>
              <a:rPr lang="en-US" sz="1400" dirty="0"/>
              <a:t> express  = new </a:t>
            </a:r>
            <a:r>
              <a:rPr lang="en-US" sz="1400" dirty="0" err="1"/>
              <a:t>ShippingCalculator</a:t>
            </a:r>
            <a:r>
              <a:rPr lang="en-US" sz="1400" dirty="0"/>
              <a:t>(2.0); // </a:t>
            </a:r>
            <a:r>
              <a:rPr lang="ru-RU" sz="1400" dirty="0"/>
              <a:t>Пока одинаково, но легко изменить</a:t>
            </a:r>
          </a:p>
        </p:txBody>
      </p:sp>
    </p:spTree>
    <p:extLst>
      <p:ext uri="{BB962C8B-B14F-4D97-AF65-F5344CB8AC3E}">
        <p14:creationId xmlns:p14="http://schemas.microsoft.com/office/powerpoint/2010/main" val="974561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Спасибо за внимание!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6960744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37</TotalTime>
  <Words>874</Words>
  <Application>Microsoft Office PowerPoint</Application>
  <PresentationFormat>Широкоэкранный</PresentationFormat>
  <Paragraphs>161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system-ui</vt:lpstr>
      <vt:lpstr>Ретро</vt:lpstr>
      <vt:lpstr>Замусориватели: класс данных, ленивый класс</vt:lpstr>
      <vt:lpstr>Класс данных Также известен как: Data Class</vt:lpstr>
      <vt:lpstr>Класс данных Также известен как: Data Class</vt:lpstr>
      <vt:lpstr>Класс данных Также известен как: Data Class</vt:lpstr>
      <vt:lpstr>Класс данных Также известен как: Data Class</vt:lpstr>
      <vt:lpstr>Класс данных Также известен как: Data Class</vt:lpstr>
      <vt:lpstr>Ленивый класс Также известен как: Lazy Class</vt:lpstr>
      <vt:lpstr>Ленивый класс Также известен как: Lazy Class</vt:lpstr>
      <vt:lpstr>Ленивый класс Также известен как: Lazy Class</vt:lpstr>
      <vt:lpstr>Спасибо за внимание!</vt:lpstr>
    </vt:vector>
  </TitlesOfParts>
  <Company>VVSU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Замусориватели: класс данных, ленивый класс</dc:title>
  <dc:creator>Котов Александр</dc:creator>
  <cp:lastModifiedBy>Котов Александр</cp:lastModifiedBy>
  <cp:revision>4</cp:revision>
  <dcterms:created xsi:type="dcterms:W3CDTF">2026-04-06T05:51:08Z</dcterms:created>
  <dcterms:modified xsi:type="dcterms:W3CDTF">2026-04-06T06:28:45Z</dcterms:modified>
</cp:coreProperties>
</file>